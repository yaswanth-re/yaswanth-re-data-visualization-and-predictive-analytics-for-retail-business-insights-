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1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0" y="-45720"/>
            <a:ext cx="12192000" cy="6903720"/>
          </a:xfrm>
          <a:prstGeom prst="roundRect">
            <a:avLst>
              <a:gd name="adj" fmla="val 1111"/>
            </a:avLst>
          </a:prstGeom>
          <a:solidFill>
            <a:srgbClr val="FFFDF9"/>
          </a:solidFill>
          <a:ln w="12700">
            <a:solidFill>
              <a:srgbClr val="D8E2EA"/>
            </a:solidFill>
            <a:prstDash val="solid"/>
          </a:ln>
        </p:spPr>
        <p:txBody>
          <a:bodyPr/>
          <a:lstStyle/>
          <a:p>
            <a:endParaRPr lang="en-IN"/>
          </a:p>
        </p:txBody>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1</a:t>
            </a:r>
            <a:endParaRPr lang="en-US" sz="1000" dirty="0"/>
          </a:p>
        </p:txBody>
      </p:sp>
      <p:sp>
        <p:nvSpPr>
          <p:cNvPr id="5" name="Shape 3"/>
          <p:cNvSpPr/>
          <p:nvPr/>
        </p:nvSpPr>
        <p:spPr>
          <a:xfrm>
            <a:off x="658368" y="676656"/>
            <a:ext cx="3291840" cy="384048"/>
          </a:xfrm>
          <a:prstGeom prst="roundRect">
            <a:avLst>
              <a:gd name="adj" fmla="val 38095"/>
            </a:avLst>
          </a:prstGeom>
          <a:solidFill>
            <a:srgbClr val="E7F5F2"/>
          </a:solidFill>
          <a:ln w="12700">
            <a:solidFill>
              <a:srgbClr val="C8E8E2"/>
            </a:solidFill>
            <a:prstDash val="solid"/>
          </a:ln>
        </p:spPr>
      </p:sp>
      <p:sp>
        <p:nvSpPr>
          <p:cNvPr id="6" name="Text 4"/>
          <p:cNvSpPr/>
          <p:nvPr/>
        </p:nvSpPr>
        <p:spPr>
          <a:xfrm>
            <a:off x="868680" y="786384"/>
            <a:ext cx="2834640" cy="201168"/>
          </a:xfrm>
          <a:prstGeom prst="rect">
            <a:avLst/>
          </a:prstGeom>
          <a:noFill/>
          <a:ln/>
        </p:spPr>
        <p:txBody>
          <a:bodyPr wrap="square" rtlCol="0" anchor="ctr"/>
          <a:lstStyle/>
          <a:p>
            <a:pPr marL="0" indent="0" algn="ctr">
              <a:buNone/>
            </a:pPr>
            <a:r>
              <a:rPr lang="en-US" sz="1100" b="1" dirty="0">
                <a:solidFill>
                  <a:srgbClr val="0F766E"/>
                </a:solidFill>
              </a:rPr>
              <a:t> PROJECT</a:t>
            </a:r>
            <a:endParaRPr lang="en-US" sz="1100" dirty="0"/>
          </a:p>
        </p:txBody>
      </p:sp>
      <p:sp>
        <p:nvSpPr>
          <p:cNvPr id="7" name="Text 5"/>
          <p:cNvSpPr/>
          <p:nvPr/>
        </p:nvSpPr>
        <p:spPr>
          <a:xfrm>
            <a:off x="749808" y="1234440"/>
            <a:ext cx="6812280" cy="914400"/>
          </a:xfrm>
          <a:prstGeom prst="rect">
            <a:avLst/>
          </a:prstGeom>
          <a:noFill/>
          <a:ln/>
        </p:spPr>
        <p:txBody>
          <a:bodyPr wrap="square" rtlCol="0" anchor="ctr"/>
          <a:lstStyle/>
          <a:p>
            <a:pPr marL="0" indent="0">
              <a:buNone/>
            </a:pPr>
            <a:r>
              <a:rPr lang="en-US" sz="3100" b="1" dirty="0">
                <a:solidFill>
                  <a:srgbClr val="1E2B39"/>
                </a:solidFill>
              </a:rPr>
              <a:t>Data Visualization and Predictive Analytics for Retail Business Insights</a:t>
            </a:r>
            <a:endParaRPr lang="en-US" sz="3100" dirty="0"/>
          </a:p>
        </p:txBody>
      </p:sp>
      <p:sp>
        <p:nvSpPr>
          <p:cNvPr id="8" name="Text 6"/>
          <p:cNvSpPr/>
          <p:nvPr/>
        </p:nvSpPr>
        <p:spPr>
          <a:xfrm>
            <a:off x="786384" y="2697480"/>
            <a:ext cx="3657600" cy="256032"/>
          </a:xfrm>
          <a:prstGeom prst="rect">
            <a:avLst/>
          </a:prstGeom>
          <a:noFill/>
          <a:ln/>
        </p:spPr>
        <p:txBody>
          <a:bodyPr wrap="square" rtlCol="0" anchor="ctr"/>
          <a:lstStyle/>
          <a:p>
            <a:pPr marL="0" indent="0">
              <a:buNone/>
            </a:pPr>
            <a:r>
              <a:rPr lang="en-US" sz="1300" dirty="0">
                <a:solidFill>
                  <a:srgbClr val="5F6E7C"/>
                </a:solidFill>
              </a:rPr>
              <a:t>Prepared by:  </a:t>
            </a:r>
            <a:r>
              <a:rPr lang="en-US" sz="1300" dirty="0" err="1">
                <a:solidFill>
                  <a:srgbClr val="5F6E7C"/>
                </a:solidFill>
              </a:rPr>
              <a:t>S.Yaswanth</a:t>
            </a:r>
            <a:r>
              <a:rPr lang="en-US" sz="1300" dirty="0">
                <a:solidFill>
                  <a:srgbClr val="5F6E7C"/>
                </a:solidFill>
              </a:rPr>
              <a:t> 23BDS0245</a:t>
            </a:r>
          </a:p>
          <a:p>
            <a:r>
              <a:rPr lang="en-US" sz="1300" dirty="0"/>
              <a:t>                       Ayush </a:t>
            </a:r>
            <a:r>
              <a:rPr lang="en-US" sz="1300" dirty="0" err="1"/>
              <a:t>Fegade</a:t>
            </a:r>
            <a:r>
              <a:rPr lang="en-US" sz="1300" dirty="0"/>
              <a:t> 23BDS0042</a:t>
            </a:r>
          </a:p>
        </p:txBody>
      </p:sp>
      <p:sp>
        <p:nvSpPr>
          <p:cNvPr id="9" name="Text 7"/>
          <p:cNvSpPr/>
          <p:nvPr/>
        </p:nvSpPr>
        <p:spPr>
          <a:xfrm>
            <a:off x="786384" y="3017520"/>
            <a:ext cx="6400800" cy="484632"/>
          </a:xfrm>
          <a:prstGeom prst="rect">
            <a:avLst/>
          </a:prstGeom>
          <a:noFill/>
          <a:ln/>
        </p:spPr>
        <p:txBody>
          <a:bodyPr wrap="square" rtlCol="0" anchor="ctr"/>
          <a:lstStyle/>
          <a:p>
            <a:pPr marL="0" indent="0">
              <a:buNone/>
            </a:pPr>
            <a:r>
              <a:rPr lang="en-US" sz="1380" b="1" dirty="0">
                <a:solidFill>
                  <a:srgbClr val="0F766E"/>
                </a:solidFill>
              </a:rPr>
              <a:t>A practical dashboard that turns raw retail data into clear business decisions.</a:t>
            </a:r>
            <a:endParaRPr lang="en-US" sz="1380" dirty="0"/>
          </a:p>
        </p:txBody>
      </p:sp>
      <p:pic>
        <p:nvPicPr>
          <p:cNvPr id="10" name="Image 0" descr="C:\Users\yaswa\OneDrive\Desktop\Data Visualization and Predictive Analytics for Retail Business Insights”\slides_build\assets_generated\dashboard_mock.png"/>
          <p:cNvPicPr>
            <a:picLocks noChangeAspect="1"/>
          </p:cNvPicPr>
          <p:nvPr/>
        </p:nvPicPr>
        <p:blipFill>
          <a:blip r:embed="rId3"/>
          <a:stretch>
            <a:fillRect/>
          </a:stretch>
        </p:blipFill>
        <p:spPr>
          <a:xfrm>
            <a:off x="7635240" y="1005840"/>
            <a:ext cx="3886200" cy="4526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2</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Project Goal</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Build one easy-to-understand platform for analysis, forecasting, and business action.</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5303520" cy="4526280"/>
          </a:xfrm>
          <a:prstGeom prst="roundRect">
            <a:avLst>
              <a:gd name="adj" fmla="val 1010"/>
            </a:avLst>
          </a:prstGeom>
          <a:solidFill>
            <a:srgbClr val="F3F8FD"/>
          </a:solidFill>
          <a:ln w="12700">
            <a:solidFill>
              <a:srgbClr val="D4DFE8"/>
            </a:solidFill>
            <a:prstDash val="solid"/>
          </a:ln>
        </p:spPr>
      </p:sp>
      <p:sp>
        <p:nvSpPr>
          <p:cNvPr id="9" name="Text 7"/>
          <p:cNvSpPr/>
          <p:nvPr/>
        </p:nvSpPr>
        <p:spPr>
          <a:xfrm>
            <a:off x="896112" y="1618488"/>
            <a:ext cx="5029200" cy="219456"/>
          </a:xfrm>
          <a:prstGeom prst="rect">
            <a:avLst/>
          </a:prstGeom>
          <a:noFill/>
          <a:ln/>
        </p:spPr>
        <p:txBody>
          <a:bodyPr wrap="square" rtlCol="0" anchor="ctr"/>
          <a:lstStyle/>
          <a:p>
            <a:pPr marL="0" indent="0">
              <a:buNone/>
            </a:pPr>
            <a:r>
              <a:rPr lang="en-US" sz="1250" b="1" dirty="0">
                <a:solidFill>
                  <a:srgbClr val="1E2B39"/>
                </a:solidFill>
              </a:rPr>
              <a:t>What Problem We Are Solving</a:t>
            </a:r>
            <a:endParaRPr lang="en-US" sz="1250" dirty="0"/>
          </a:p>
        </p:txBody>
      </p:sp>
      <p:sp>
        <p:nvSpPr>
          <p:cNvPr id="10" name="Text 8"/>
          <p:cNvSpPr/>
          <p:nvPr/>
        </p:nvSpPr>
        <p:spPr>
          <a:xfrm>
            <a:off x="896112" y="1865376"/>
            <a:ext cx="5029200" cy="4114800"/>
          </a:xfrm>
          <a:prstGeom prst="rect">
            <a:avLst/>
          </a:prstGeom>
          <a:noFill/>
          <a:ln/>
        </p:spPr>
        <p:txBody>
          <a:bodyPr wrap="square" rtlCol="0" anchor="t"/>
          <a:lstStyle/>
          <a:p>
            <a:pPr marL="0" indent="0">
              <a:buNone/>
            </a:pPr>
            <a:r>
              <a:rPr lang="en-US" sz="1100" dirty="0">
                <a:solidFill>
                  <a:srgbClr val="2B3B4B"/>
                </a:solidFill>
              </a:rPr>
              <a:t>Retail teams often have too much raw data but too little clear direction. Managers need quick answers to questions like: Which region is weak? Is sales likely to rise or fall? Are we understocked next month? Existing reports usually show history only and do not guide action. This project solves that gap by converting data into understandable recommendations.</a:t>
            </a:r>
            <a:endParaRPr lang="en-US" sz="1100" dirty="0"/>
          </a:p>
        </p:txBody>
      </p:sp>
      <p:sp>
        <p:nvSpPr>
          <p:cNvPr id="11" name="Shape 9"/>
          <p:cNvSpPr/>
          <p:nvPr/>
        </p:nvSpPr>
        <p:spPr>
          <a:xfrm>
            <a:off x="6217920" y="1508760"/>
            <a:ext cx="5074920" cy="4526280"/>
          </a:xfrm>
          <a:prstGeom prst="roundRect">
            <a:avLst>
              <a:gd name="adj" fmla="val 1010"/>
            </a:avLst>
          </a:prstGeom>
          <a:solidFill>
            <a:srgbClr val="EEF8F5"/>
          </a:solidFill>
          <a:ln w="12700">
            <a:solidFill>
              <a:srgbClr val="D4DFE8"/>
            </a:solidFill>
            <a:prstDash val="solid"/>
          </a:ln>
        </p:spPr>
      </p:sp>
      <p:sp>
        <p:nvSpPr>
          <p:cNvPr id="12" name="Text 10"/>
          <p:cNvSpPr/>
          <p:nvPr/>
        </p:nvSpPr>
        <p:spPr>
          <a:xfrm>
            <a:off x="6364224" y="1618488"/>
            <a:ext cx="4800600" cy="219456"/>
          </a:xfrm>
          <a:prstGeom prst="rect">
            <a:avLst/>
          </a:prstGeom>
          <a:noFill/>
          <a:ln/>
        </p:spPr>
        <p:txBody>
          <a:bodyPr wrap="square" rtlCol="0" anchor="ctr"/>
          <a:lstStyle/>
          <a:p>
            <a:pPr marL="0" indent="0">
              <a:buNone/>
            </a:pPr>
            <a:r>
              <a:rPr lang="en-US" sz="1250" b="1" dirty="0">
                <a:solidFill>
                  <a:srgbClr val="1E2B39"/>
                </a:solidFill>
              </a:rPr>
              <a:t>What This Project Delivers</a:t>
            </a:r>
            <a:endParaRPr lang="en-US" sz="1250" dirty="0"/>
          </a:p>
        </p:txBody>
      </p:sp>
      <p:sp>
        <p:nvSpPr>
          <p:cNvPr id="13" name="Text 11"/>
          <p:cNvSpPr/>
          <p:nvPr/>
        </p:nvSpPr>
        <p:spPr>
          <a:xfrm>
            <a:off x="6364224" y="1865376"/>
            <a:ext cx="4800600" cy="4114800"/>
          </a:xfrm>
          <a:prstGeom prst="rect">
            <a:avLst/>
          </a:prstGeom>
          <a:noFill/>
          <a:ln/>
        </p:spPr>
        <p:txBody>
          <a:bodyPr wrap="square" rtlCol="0" anchor="t"/>
          <a:lstStyle/>
          <a:p>
            <a:pPr marL="0" indent="0">
              <a:buNone/>
            </a:pPr>
            <a:r>
              <a:rPr lang="en-US" sz="1100" dirty="0">
                <a:solidFill>
                  <a:srgbClr val="2B3B4B"/>
                </a:solidFill>
              </a:rPr>
              <a:t>The dashboard combines filtering, KPI tracking, forecasting, anomaly alerts, customer and product insights, and downloadable reports. It is designed for both technical and non-technical users. Instead of just showing charts, it explains what they mean and what action can be taken. This makes the project useful in real business meetings.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3</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How the Project Works</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A clear flow from data input to business decision output.</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pic>
        <p:nvPicPr>
          <p:cNvPr id="8" name="Image 0" descr="C:\Users\yaswa\OneDrive\Desktop\Data Visualization and Predictive Analytics for Retail Business Insights”\slides_build\assets_generated\workflow_diagram.png"/>
          <p:cNvPicPr>
            <a:picLocks noChangeAspect="1"/>
          </p:cNvPicPr>
          <p:nvPr/>
        </p:nvPicPr>
        <p:blipFill>
          <a:blip r:embed="rId3"/>
          <a:stretch>
            <a:fillRect/>
          </a:stretch>
        </p:blipFill>
        <p:spPr>
          <a:xfrm>
            <a:off x="749808" y="1499616"/>
            <a:ext cx="10570464" cy="3383280"/>
          </a:xfrm>
          <a:prstGeom prst="rect">
            <a:avLst/>
          </a:prstGeom>
        </p:spPr>
      </p:pic>
      <p:sp>
        <p:nvSpPr>
          <p:cNvPr id="9" name="Shape 6"/>
          <p:cNvSpPr/>
          <p:nvPr/>
        </p:nvSpPr>
        <p:spPr>
          <a:xfrm>
            <a:off x="749808" y="4983480"/>
            <a:ext cx="10570464" cy="1051560"/>
          </a:xfrm>
          <a:prstGeom prst="roundRect">
            <a:avLst>
              <a:gd name="adj" fmla="val 4348"/>
            </a:avLst>
          </a:prstGeom>
          <a:solidFill>
            <a:srgbClr val="FFF4E8"/>
          </a:solidFill>
          <a:ln w="12700">
            <a:solidFill>
              <a:srgbClr val="D4DFE8"/>
            </a:solidFill>
            <a:prstDash val="solid"/>
          </a:ln>
        </p:spPr>
      </p:sp>
      <p:sp>
        <p:nvSpPr>
          <p:cNvPr id="10" name="Text 7"/>
          <p:cNvSpPr/>
          <p:nvPr/>
        </p:nvSpPr>
        <p:spPr>
          <a:xfrm>
            <a:off x="896112" y="5093208"/>
            <a:ext cx="10296144" cy="219456"/>
          </a:xfrm>
          <a:prstGeom prst="rect">
            <a:avLst/>
          </a:prstGeom>
          <a:noFill/>
          <a:ln/>
        </p:spPr>
        <p:txBody>
          <a:bodyPr wrap="square" rtlCol="0" anchor="ctr"/>
          <a:lstStyle/>
          <a:p>
            <a:pPr marL="0" indent="0">
              <a:buNone/>
            </a:pPr>
            <a:r>
              <a:rPr lang="en-US" sz="1250" b="1" dirty="0">
                <a:solidFill>
                  <a:srgbClr val="1E2B39"/>
                </a:solidFill>
              </a:rPr>
              <a:t>Simple Flow Explanation</a:t>
            </a:r>
            <a:endParaRPr lang="en-US" sz="1250" dirty="0"/>
          </a:p>
        </p:txBody>
      </p:sp>
      <p:sp>
        <p:nvSpPr>
          <p:cNvPr id="11" name="Text 8"/>
          <p:cNvSpPr/>
          <p:nvPr/>
        </p:nvSpPr>
        <p:spPr>
          <a:xfrm>
            <a:off x="896112" y="5340096"/>
            <a:ext cx="10296144" cy="640080"/>
          </a:xfrm>
          <a:prstGeom prst="rect">
            <a:avLst/>
          </a:prstGeom>
          <a:noFill/>
          <a:ln/>
        </p:spPr>
        <p:txBody>
          <a:bodyPr wrap="square" rtlCol="0" anchor="t"/>
          <a:lstStyle/>
          <a:p>
            <a:pPr marL="0" indent="0">
              <a:buNone/>
            </a:pPr>
            <a:r>
              <a:rPr lang="en-US" sz="1080" dirty="0">
                <a:solidFill>
                  <a:srgbClr val="2B3B4B"/>
                </a:solidFill>
              </a:rPr>
              <a:t>First, user uploads data and applies filters. Next, the system calculates trends and KPIs. Then it runs forecasting and risk checks. After that, it creates insights and simulations. Finally, users download reports (CSV, Excel, PDF) for communication and planning.</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4</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Dataset and Preparation</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Large data support with reliable preprocessing for real use.</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3520440" cy="4526280"/>
          </a:xfrm>
          <a:prstGeom prst="roundRect">
            <a:avLst>
              <a:gd name="adj" fmla="val 1299"/>
            </a:avLst>
          </a:prstGeom>
          <a:solidFill>
            <a:srgbClr val="F3F8FD"/>
          </a:solidFill>
          <a:ln w="12700">
            <a:solidFill>
              <a:srgbClr val="D4DFE8"/>
            </a:solidFill>
            <a:prstDash val="solid"/>
          </a:ln>
        </p:spPr>
      </p:sp>
      <p:sp>
        <p:nvSpPr>
          <p:cNvPr id="9" name="Text 7"/>
          <p:cNvSpPr/>
          <p:nvPr/>
        </p:nvSpPr>
        <p:spPr>
          <a:xfrm>
            <a:off x="896112" y="1618488"/>
            <a:ext cx="3246120" cy="219456"/>
          </a:xfrm>
          <a:prstGeom prst="rect">
            <a:avLst/>
          </a:prstGeom>
          <a:noFill/>
          <a:ln/>
        </p:spPr>
        <p:txBody>
          <a:bodyPr wrap="square" rtlCol="0" anchor="ctr"/>
          <a:lstStyle/>
          <a:p>
            <a:pPr marL="0" indent="0">
              <a:buNone/>
            </a:pPr>
            <a:r>
              <a:rPr lang="en-US" sz="1250" b="1" dirty="0">
                <a:solidFill>
                  <a:srgbClr val="1E2B39"/>
                </a:solidFill>
              </a:rPr>
              <a:t>Dataset Profile</a:t>
            </a:r>
            <a:endParaRPr lang="en-US" sz="1250" dirty="0"/>
          </a:p>
        </p:txBody>
      </p:sp>
      <p:sp>
        <p:nvSpPr>
          <p:cNvPr id="10" name="Text 8"/>
          <p:cNvSpPr/>
          <p:nvPr/>
        </p:nvSpPr>
        <p:spPr>
          <a:xfrm>
            <a:off x="896112" y="1865376"/>
            <a:ext cx="3246120" cy="4114800"/>
          </a:xfrm>
          <a:prstGeom prst="rect">
            <a:avLst/>
          </a:prstGeom>
          <a:noFill/>
          <a:ln/>
        </p:spPr>
        <p:txBody>
          <a:bodyPr wrap="square" rtlCol="0" anchor="t"/>
          <a:lstStyle/>
          <a:p>
            <a:pPr marL="0" indent="0">
              <a:buNone/>
            </a:pPr>
            <a:r>
              <a:rPr lang="en-US" sz="1060" dirty="0">
                <a:solidFill>
                  <a:srgbClr val="2B3B4B"/>
                </a:solidFill>
              </a:rPr>
              <a:t>The project uses a large dataset with 33,941 records across multiple years, regions, categories, and customer segments. This size helps produce realistic analytics and stable forecasting behavior. A wide data structure also enables deeper business questions, such as regional performance and segment-level profitability.</a:t>
            </a:r>
            <a:endParaRPr lang="en-US" sz="1060" dirty="0"/>
          </a:p>
        </p:txBody>
      </p:sp>
      <p:sp>
        <p:nvSpPr>
          <p:cNvPr id="11" name="Shape 9"/>
          <p:cNvSpPr/>
          <p:nvPr/>
        </p:nvSpPr>
        <p:spPr>
          <a:xfrm>
            <a:off x="4443984" y="1508760"/>
            <a:ext cx="3520440" cy="4526280"/>
          </a:xfrm>
          <a:prstGeom prst="roundRect">
            <a:avLst>
              <a:gd name="adj" fmla="val 1299"/>
            </a:avLst>
          </a:prstGeom>
          <a:solidFill>
            <a:srgbClr val="EEF8F5"/>
          </a:solidFill>
          <a:ln w="12700">
            <a:solidFill>
              <a:srgbClr val="D4DFE8"/>
            </a:solidFill>
            <a:prstDash val="solid"/>
          </a:ln>
        </p:spPr>
      </p:sp>
      <p:sp>
        <p:nvSpPr>
          <p:cNvPr id="12" name="Text 10"/>
          <p:cNvSpPr/>
          <p:nvPr/>
        </p:nvSpPr>
        <p:spPr>
          <a:xfrm>
            <a:off x="4590288" y="1618488"/>
            <a:ext cx="3246120" cy="219456"/>
          </a:xfrm>
          <a:prstGeom prst="rect">
            <a:avLst/>
          </a:prstGeom>
          <a:noFill/>
          <a:ln/>
        </p:spPr>
        <p:txBody>
          <a:bodyPr wrap="square" rtlCol="0" anchor="ctr"/>
          <a:lstStyle/>
          <a:p>
            <a:pPr marL="0" indent="0">
              <a:buNone/>
            </a:pPr>
            <a:r>
              <a:rPr lang="en-US" sz="1250" b="1" dirty="0">
                <a:solidFill>
                  <a:srgbClr val="1E2B39"/>
                </a:solidFill>
              </a:rPr>
              <a:t>Data Preparation Logic</a:t>
            </a:r>
            <a:endParaRPr lang="en-US" sz="1250" dirty="0"/>
          </a:p>
        </p:txBody>
      </p:sp>
      <p:sp>
        <p:nvSpPr>
          <p:cNvPr id="13" name="Text 11"/>
          <p:cNvSpPr/>
          <p:nvPr/>
        </p:nvSpPr>
        <p:spPr>
          <a:xfrm>
            <a:off x="4590288" y="1865376"/>
            <a:ext cx="3246120" cy="4114800"/>
          </a:xfrm>
          <a:prstGeom prst="rect">
            <a:avLst/>
          </a:prstGeom>
          <a:noFill/>
          <a:ln/>
        </p:spPr>
        <p:txBody>
          <a:bodyPr wrap="square" rtlCol="0" anchor="t"/>
          <a:lstStyle/>
          <a:p>
            <a:pPr marL="0" indent="0">
              <a:buNone/>
            </a:pPr>
            <a:r>
              <a:rPr lang="en-US" sz="1060" dirty="0">
                <a:solidFill>
                  <a:srgbClr val="2B3B4B"/>
                </a:solidFill>
              </a:rPr>
              <a:t>The system cleans dates, checks required fields, and applies selected filters before analysis. It also creates helpful derived values such as growth rate, volatility, and target variance. These steps ensure the dashboard outputs are accurate, consistent, and understandable.</a:t>
            </a:r>
            <a:endParaRPr lang="en-US" sz="1060" dirty="0"/>
          </a:p>
        </p:txBody>
      </p:sp>
      <p:sp>
        <p:nvSpPr>
          <p:cNvPr id="14" name="Shape 12"/>
          <p:cNvSpPr/>
          <p:nvPr/>
        </p:nvSpPr>
        <p:spPr>
          <a:xfrm>
            <a:off x="8138160" y="1508760"/>
            <a:ext cx="3182112" cy="4526280"/>
          </a:xfrm>
          <a:prstGeom prst="roundRect">
            <a:avLst>
              <a:gd name="adj" fmla="val 1437"/>
            </a:avLst>
          </a:prstGeom>
          <a:solidFill>
            <a:srgbClr val="FFF4E8"/>
          </a:solidFill>
          <a:ln w="12700">
            <a:solidFill>
              <a:srgbClr val="D4DFE8"/>
            </a:solidFill>
            <a:prstDash val="solid"/>
          </a:ln>
        </p:spPr>
      </p:sp>
      <p:sp>
        <p:nvSpPr>
          <p:cNvPr id="15" name="Text 13"/>
          <p:cNvSpPr/>
          <p:nvPr/>
        </p:nvSpPr>
        <p:spPr>
          <a:xfrm>
            <a:off x="8284464" y="1618488"/>
            <a:ext cx="2907792" cy="219456"/>
          </a:xfrm>
          <a:prstGeom prst="rect">
            <a:avLst/>
          </a:prstGeom>
          <a:noFill/>
          <a:ln/>
        </p:spPr>
        <p:txBody>
          <a:bodyPr wrap="square" rtlCol="0" anchor="ctr"/>
          <a:lstStyle/>
          <a:p>
            <a:pPr marL="0" indent="0">
              <a:buNone/>
            </a:pPr>
            <a:r>
              <a:rPr lang="en-US" sz="1250" b="1" dirty="0">
                <a:solidFill>
                  <a:srgbClr val="1E2B39"/>
                </a:solidFill>
              </a:rPr>
              <a:t>Edge Case Handling</a:t>
            </a:r>
            <a:endParaRPr lang="en-US" sz="1250" dirty="0"/>
          </a:p>
        </p:txBody>
      </p:sp>
      <p:sp>
        <p:nvSpPr>
          <p:cNvPr id="16" name="Text 14"/>
          <p:cNvSpPr/>
          <p:nvPr/>
        </p:nvSpPr>
        <p:spPr>
          <a:xfrm>
            <a:off x="8284464" y="1865376"/>
            <a:ext cx="2907792" cy="4114800"/>
          </a:xfrm>
          <a:prstGeom prst="rect">
            <a:avLst/>
          </a:prstGeom>
          <a:noFill/>
          <a:ln/>
        </p:spPr>
        <p:txBody>
          <a:bodyPr wrap="square" rtlCol="0" anchor="t"/>
          <a:lstStyle/>
          <a:p>
            <a:pPr marL="0" indent="0">
              <a:buNone/>
            </a:pPr>
            <a:r>
              <a:rPr lang="en-US" sz="1060" dirty="0">
                <a:solidFill>
                  <a:srgbClr val="2B3B4B"/>
                </a:solidFill>
              </a:rPr>
              <a:t>If uploaded files miss optional columns, the project creates safe default values so analysis can still run. If required columns are missing, the user gets clear guidance. This makes the dashboard robust for practical situations where datasets are incomplete or messy.</a:t>
            </a:r>
            <a:endParaRPr lang="en-US" sz="10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5</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Dashboard Experience</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Designed so common users can understand the project quickly.</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pic>
        <p:nvPicPr>
          <p:cNvPr id="8" name="Image 0" descr="C:\Users\yaswa\OneDrive\Desktop\Data Visualization and Predictive Analytics for Retail Business Insights”\slides_build\assets_generated\dashboard_mock.png"/>
          <p:cNvPicPr>
            <a:picLocks noChangeAspect="1"/>
          </p:cNvPicPr>
          <p:nvPr/>
        </p:nvPicPr>
        <p:blipFill>
          <a:blip r:embed="rId3"/>
          <a:stretch>
            <a:fillRect/>
          </a:stretch>
        </p:blipFill>
        <p:spPr>
          <a:xfrm>
            <a:off x="749808" y="1536192"/>
            <a:ext cx="7223760" cy="4526280"/>
          </a:xfrm>
          <a:prstGeom prst="rect">
            <a:avLst/>
          </a:prstGeom>
        </p:spPr>
      </p:pic>
      <p:sp>
        <p:nvSpPr>
          <p:cNvPr id="9" name="Shape 6"/>
          <p:cNvSpPr/>
          <p:nvPr/>
        </p:nvSpPr>
        <p:spPr>
          <a:xfrm>
            <a:off x="8156448" y="1536192"/>
            <a:ext cx="3163824" cy="4526280"/>
          </a:xfrm>
          <a:prstGeom prst="roundRect">
            <a:avLst>
              <a:gd name="adj" fmla="val 1445"/>
            </a:avLst>
          </a:prstGeom>
          <a:solidFill>
            <a:srgbClr val="EEF8F5"/>
          </a:solidFill>
          <a:ln w="12700">
            <a:solidFill>
              <a:srgbClr val="D4DFE8"/>
            </a:solidFill>
            <a:prstDash val="solid"/>
          </a:ln>
        </p:spPr>
      </p:sp>
      <p:sp>
        <p:nvSpPr>
          <p:cNvPr id="10" name="Text 7"/>
          <p:cNvSpPr/>
          <p:nvPr/>
        </p:nvSpPr>
        <p:spPr>
          <a:xfrm>
            <a:off x="8302752" y="1645920"/>
            <a:ext cx="2889504" cy="219456"/>
          </a:xfrm>
          <a:prstGeom prst="rect">
            <a:avLst/>
          </a:prstGeom>
          <a:noFill/>
          <a:ln/>
        </p:spPr>
        <p:txBody>
          <a:bodyPr wrap="square" rtlCol="0" anchor="ctr"/>
          <a:lstStyle/>
          <a:p>
            <a:pPr marL="0" indent="0">
              <a:buNone/>
            </a:pPr>
            <a:r>
              <a:rPr lang="en-US" sz="1250" b="1" dirty="0">
                <a:solidFill>
                  <a:srgbClr val="1E2B39"/>
                </a:solidFill>
              </a:rPr>
              <a:t>User-Friendly Design</a:t>
            </a:r>
            <a:endParaRPr lang="en-US" sz="1250" dirty="0"/>
          </a:p>
        </p:txBody>
      </p:sp>
      <p:sp>
        <p:nvSpPr>
          <p:cNvPr id="11" name="Text 8"/>
          <p:cNvSpPr/>
          <p:nvPr/>
        </p:nvSpPr>
        <p:spPr>
          <a:xfrm>
            <a:off x="8302752" y="1892808"/>
            <a:ext cx="2889504" cy="4114800"/>
          </a:xfrm>
          <a:prstGeom prst="rect">
            <a:avLst/>
          </a:prstGeom>
          <a:noFill/>
          <a:ln/>
        </p:spPr>
        <p:txBody>
          <a:bodyPr wrap="square" rtlCol="0" anchor="t"/>
          <a:lstStyle/>
          <a:p>
            <a:pPr marL="0" indent="0">
              <a:buNone/>
            </a:pPr>
            <a:r>
              <a:rPr lang="en-US" sz="1060" dirty="0">
                <a:solidFill>
                  <a:srgbClr val="2B3B4B"/>
                </a:solidFill>
              </a:rPr>
              <a:t>The dashboard uses simple tab names, short section guidance, and clear KPI labels to reduce confusion. Users can explore data using filters and immediately see how charts change. This supports live explanation during viva and also real business use where not every user is technical.</a:t>
            </a:r>
            <a:endParaRPr lang="en-US" sz="10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6</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Complete Feature Coverage</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All modules are integrated in one platform.</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pic>
        <p:nvPicPr>
          <p:cNvPr id="8" name="Image 0" descr="C:\Users\yaswa\OneDrive\Desktop\Data Visualization and Predictive Analytics for Retail Business Insights”\slides_build\assets_generated\feature_map.png"/>
          <p:cNvPicPr>
            <a:picLocks noChangeAspect="1"/>
          </p:cNvPicPr>
          <p:nvPr/>
        </p:nvPicPr>
        <p:blipFill>
          <a:blip r:embed="rId3"/>
          <a:stretch>
            <a:fillRect/>
          </a:stretch>
        </p:blipFill>
        <p:spPr>
          <a:xfrm>
            <a:off x="749808" y="1536192"/>
            <a:ext cx="10570464" cy="2697480"/>
          </a:xfrm>
          <a:prstGeom prst="rect">
            <a:avLst/>
          </a:prstGeom>
        </p:spPr>
      </p:pic>
      <p:sp>
        <p:nvSpPr>
          <p:cNvPr id="9" name="Shape 6"/>
          <p:cNvSpPr/>
          <p:nvPr/>
        </p:nvSpPr>
        <p:spPr>
          <a:xfrm>
            <a:off x="749808" y="4389120"/>
            <a:ext cx="10570464" cy="1645920"/>
          </a:xfrm>
          <a:prstGeom prst="roundRect">
            <a:avLst>
              <a:gd name="adj" fmla="val 2778"/>
            </a:avLst>
          </a:prstGeom>
          <a:solidFill>
            <a:srgbClr val="F3F8FD"/>
          </a:solidFill>
          <a:ln w="12700">
            <a:solidFill>
              <a:srgbClr val="D4DFE8"/>
            </a:solidFill>
            <a:prstDash val="solid"/>
          </a:ln>
        </p:spPr>
      </p:sp>
      <p:sp>
        <p:nvSpPr>
          <p:cNvPr id="10" name="Text 7"/>
          <p:cNvSpPr/>
          <p:nvPr/>
        </p:nvSpPr>
        <p:spPr>
          <a:xfrm>
            <a:off x="896112" y="4498848"/>
            <a:ext cx="10296144" cy="219456"/>
          </a:xfrm>
          <a:prstGeom prst="rect">
            <a:avLst/>
          </a:prstGeom>
          <a:noFill/>
          <a:ln/>
        </p:spPr>
        <p:txBody>
          <a:bodyPr wrap="square" rtlCol="0" anchor="ctr"/>
          <a:lstStyle/>
          <a:p>
            <a:pPr marL="0" indent="0">
              <a:buNone/>
            </a:pPr>
            <a:r>
              <a:rPr lang="en-US" sz="1250" b="1" dirty="0">
                <a:solidFill>
                  <a:srgbClr val="1E2B39"/>
                </a:solidFill>
              </a:rPr>
              <a:t>What Makes Feature Integration Powerful</a:t>
            </a:r>
            <a:endParaRPr lang="en-US" sz="1250" dirty="0"/>
          </a:p>
        </p:txBody>
      </p:sp>
      <p:sp>
        <p:nvSpPr>
          <p:cNvPr id="11" name="Text 8"/>
          <p:cNvSpPr/>
          <p:nvPr/>
        </p:nvSpPr>
        <p:spPr>
          <a:xfrm>
            <a:off x="896112" y="4745736"/>
            <a:ext cx="10296144" cy="1234440"/>
          </a:xfrm>
          <a:prstGeom prst="rect">
            <a:avLst/>
          </a:prstGeom>
          <a:noFill/>
          <a:ln/>
        </p:spPr>
        <p:txBody>
          <a:bodyPr wrap="square" rtlCol="0" anchor="t"/>
          <a:lstStyle/>
          <a:p>
            <a:pPr marL="0" indent="0">
              <a:buNone/>
            </a:pPr>
            <a:r>
              <a:rPr lang="en-US" sz="1080" dirty="0">
                <a:solidFill>
                  <a:srgbClr val="2B3B4B"/>
                </a:solidFill>
              </a:rPr>
              <a:t>Many projects provide only one or two capabilities. This project combines data exploration, forecasting, risk detection, customer intelligence, simulation, and reporting in one workflow. Because all modules share the same filtered context, insights stay consistent. This reduces confusion and improves trust in decision-making.</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7</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Forecasting Module</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Predicts future sales/profit and supports forward planning.</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5303520" cy="4526280"/>
          </a:xfrm>
          <a:prstGeom prst="roundRect">
            <a:avLst>
              <a:gd name="adj" fmla="val 1010"/>
            </a:avLst>
          </a:prstGeom>
          <a:solidFill>
            <a:srgbClr val="F3F8FD"/>
          </a:solidFill>
          <a:ln w="12700">
            <a:solidFill>
              <a:srgbClr val="D4DFE8"/>
            </a:solidFill>
            <a:prstDash val="solid"/>
          </a:ln>
        </p:spPr>
      </p:sp>
      <p:sp>
        <p:nvSpPr>
          <p:cNvPr id="9" name="Text 7"/>
          <p:cNvSpPr/>
          <p:nvPr/>
        </p:nvSpPr>
        <p:spPr>
          <a:xfrm>
            <a:off x="896112" y="1618488"/>
            <a:ext cx="5029200" cy="219456"/>
          </a:xfrm>
          <a:prstGeom prst="rect">
            <a:avLst/>
          </a:prstGeom>
          <a:noFill/>
          <a:ln/>
        </p:spPr>
        <p:txBody>
          <a:bodyPr wrap="square" rtlCol="0" anchor="ctr"/>
          <a:lstStyle/>
          <a:p>
            <a:pPr marL="0" indent="0">
              <a:buNone/>
            </a:pPr>
            <a:r>
              <a:rPr lang="en-US" sz="1250" b="1" dirty="0">
                <a:solidFill>
                  <a:srgbClr val="1E2B39"/>
                </a:solidFill>
              </a:rPr>
              <a:t>How Forecasting Helps in This Project</a:t>
            </a:r>
            <a:endParaRPr lang="en-US" sz="1250" dirty="0"/>
          </a:p>
        </p:txBody>
      </p:sp>
      <p:sp>
        <p:nvSpPr>
          <p:cNvPr id="10" name="Text 8"/>
          <p:cNvSpPr/>
          <p:nvPr/>
        </p:nvSpPr>
        <p:spPr>
          <a:xfrm>
            <a:off x="896112" y="1865376"/>
            <a:ext cx="5029200" cy="4114800"/>
          </a:xfrm>
          <a:prstGeom prst="rect">
            <a:avLst/>
          </a:prstGeom>
          <a:noFill/>
          <a:ln/>
        </p:spPr>
        <p:txBody>
          <a:bodyPr wrap="square" rtlCol="0" anchor="t"/>
          <a:lstStyle/>
          <a:p>
            <a:pPr marL="0" indent="0">
              <a:buNone/>
            </a:pPr>
            <a:r>
              <a:rPr lang="en-US" sz="1080" dirty="0">
                <a:solidFill>
                  <a:srgbClr val="2B3B4B"/>
                </a:solidFill>
              </a:rPr>
              <a:t>The project compares three forecasting approaches and chooses the one that performed best on recent history. This is important because one method does not always work best in every situation. The dashboard shows actual trend and predicted future trend together, so users can understand where business is heading. The result supports planning for inventory, budgeting, and target setting.</a:t>
            </a:r>
            <a:endParaRPr lang="en-US" sz="1080" dirty="0"/>
          </a:p>
        </p:txBody>
      </p:sp>
      <p:sp>
        <p:nvSpPr>
          <p:cNvPr id="11" name="Shape 9"/>
          <p:cNvSpPr/>
          <p:nvPr/>
        </p:nvSpPr>
        <p:spPr>
          <a:xfrm>
            <a:off x="6217920" y="1508760"/>
            <a:ext cx="5074920" cy="4526280"/>
          </a:xfrm>
          <a:prstGeom prst="roundRect">
            <a:avLst>
              <a:gd name="adj" fmla="val 1010"/>
            </a:avLst>
          </a:prstGeom>
          <a:solidFill>
            <a:srgbClr val="FFF4E8"/>
          </a:solidFill>
          <a:ln w="12700">
            <a:solidFill>
              <a:srgbClr val="D4DFE8"/>
            </a:solidFill>
            <a:prstDash val="solid"/>
          </a:ln>
        </p:spPr>
      </p:sp>
      <p:sp>
        <p:nvSpPr>
          <p:cNvPr id="12" name="Text 10"/>
          <p:cNvSpPr/>
          <p:nvPr/>
        </p:nvSpPr>
        <p:spPr>
          <a:xfrm>
            <a:off x="6364224" y="1618488"/>
            <a:ext cx="4800600" cy="219456"/>
          </a:xfrm>
          <a:prstGeom prst="rect">
            <a:avLst/>
          </a:prstGeom>
          <a:noFill/>
          <a:ln/>
        </p:spPr>
        <p:txBody>
          <a:bodyPr wrap="square" rtlCol="0" anchor="ctr"/>
          <a:lstStyle/>
          <a:p>
            <a:pPr marL="0" indent="0">
              <a:buNone/>
            </a:pPr>
            <a:r>
              <a:rPr lang="en-US" sz="1250" b="1" dirty="0">
                <a:solidFill>
                  <a:srgbClr val="1E2B39"/>
                </a:solidFill>
              </a:rPr>
              <a:t>Business Impact with Examples</a:t>
            </a:r>
            <a:endParaRPr lang="en-US" sz="1250" dirty="0"/>
          </a:p>
        </p:txBody>
      </p:sp>
      <p:sp>
        <p:nvSpPr>
          <p:cNvPr id="13" name="Text 11"/>
          <p:cNvSpPr/>
          <p:nvPr/>
        </p:nvSpPr>
        <p:spPr>
          <a:xfrm>
            <a:off x="6364224" y="1865376"/>
            <a:ext cx="4800600" cy="4114800"/>
          </a:xfrm>
          <a:prstGeom prst="rect">
            <a:avLst/>
          </a:prstGeom>
          <a:noFill/>
          <a:ln/>
        </p:spPr>
        <p:txBody>
          <a:bodyPr wrap="square" rtlCol="0" anchor="t"/>
          <a:lstStyle/>
          <a:p>
            <a:pPr marL="0" indent="0">
              <a:buNone/>
            </a:pPr>
            <a:r>
              <a:rPr lang="en-US" sz="1080" dirty="0">
                <a:solidFill>
                  <a:srgbClr val="2B3B4B"/>
                </a:solidFill>
              </a:rPr>
              <a:t>Example 1: If forecast suggests growth in next 3 months, procurement can increase stock early. Example 2: If forecast suggests decline, marketing can run retention campaigns before loss becomes severe. Forecasting turns data from reactive reporting into proactive decision support.</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8</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Risk and Anomaly Intelligence</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Finds unusual periods and improves decision safety.</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3520440" cy="4526280"/>
          </a:xfrm>
          <a:prstGeom prst="roundRect">
            <a:avLst>
              <a:gd name="adj" fmla="val 1299"/>
            </a:avLst>
          </a:prstGeom>
          <a:solidFill>
            <a:srgbClr val="F3F8FD"/>
          </a:solidFill>
          <a:ln w="12700">
            <a:solidFill>
              <a:srgbClr val="D4DFE8"/>
            </a:solidFill>
            <a:prstDash val="solid"/>
          </a:ln>
        </p:spPr>
      </p:sp>
      <p:sp>
        <p:nvSpPr>
          <p:cNvPr id="9" name="Text 7"/>
          <p:cNvSpPr/>
          <p:nvPr/>
        </p:nvSpPr>
        <p:spPr>
          <a:xfrm>
            <a:off x="896112" y="1618488"/>
            <a:ext cx="3246120" cy="219456"/>
          </a:xfrm>
          <a:prstGeom prst="rect">
            <a:avLst/>
          </a:prstGeom>
          <a:noFill/>
          <a:ln/>
        </p:spPr>
        <p:txBody>
          <a:bodyPr wrap="square" rtlCol="0" anchor="ctr"/>
          <a:lstStyle/>
          <a:p>
            <a:pPr marL="0" indent="0">
              <a:buNone/>
            </a:pPr>
            <a:r>
              <a:rPr lang="en-US" sz="1250" b="1" dirty="0">
                <a:solidFill>
                  <a:srgbClr val="1E2B39"/>
                </a:solidFill>
              </a:rPr>
              <a:t>What It Detects</a:t>
            </a:r>
            <a:endParaRPr lang="en-US" sz="1250" dirty="0"/>
          </a:p>
        </p:txBody>
      </p:sp>
      <p:sp>
        <p:nvSpPr>
          <p:cNvPr id="10" name="Text 8"/>
          <p:cNvSpPr/>
          <p:nvPr/>
        </p:nvSpPr>
        <p:spPr>
          <a:xfrm>
            <a:off x="896112" y="1865376"/>
            <a:ext cx="3246120" cy="4114800"/>
          </a:xfrm>
          <a:prstGeom prst="rect">
            <a:avLst/>
          </a:prstGeom>
          <a:noFill/>
          <a:ln/>
        </p:spPr>
        <p:txBody>
          <a:bodyPr wrap="square" rtlCol="0" anchor="t"/>
          <a:lstStyle/>
          <a:p>
            <a:pPr marL="0" indent="0">
              <a:buNone/>
            </a:pPr>
            <a:r>
              <a:rPr lang="en-US" sz="1060" dirty="0">
                <a:solidFill>
                  <a:srgbClr val="2B3B4B"/>
                </a:solidFill>
              </a:rPr>
              <a:t>The project detects months where performance behaves unusually compared to normal trend. These could be caused by sudden demand spikes, supply issues, reporting errors, or campaign effects. By highlighting anomalies, the system helps teams focus on important periods first.</a:t>
            </a:r>
            <a:endParaRPr lang="en-US" sz="1060" dirty="0"/>
          </a:p>
        </p:txBody>
      </p:sp>
      <p:sp>
        <p:nvSpPr>
          <p:cNvPr id="11" name="Shape 9"/>
          <p:cNvSpPr/>
          <p:nvPr/>
        </p:nvSpPr>
        <p:spPr>
          <a:xfrm>
            <a:off x="4443984" y="1508760"/>
            <a:ext cx="3520440" cy="4526280"/>
          </a:xfrm>
          <a:prstGeom prst="roundRect">
            <a:avLst>
              <a:gd name="adj" fmla="val 1299"/>
            </a:avLst>
          </a:prstGeom>
          <a:solidFill>
            <a:srgbClr val="EEF8F5"/>
          </a:solidFill>
          <a:ln w="12700">
            <a:solidFill>
              <a:srgbClr val="D4DFE8"/>
            </a:solidFill>
            <a:prstDash val="solid"/>
          </a:ln>
        </p:spPr>
      </p:sp>
      <p:sp>
        <p:nvSpPr>
          <p:cNvPr id="12" name="Text 10"/>
          <p:cNvSpPr/>
          <p:nvPr/>
        </p:nvSpPr>
        <p:spPr>
          <a:xfrm>
            <a:off x="4590288" y="1618488"/>
            <a:ext cx="3246120" cy="219456"/>
          </a:xfrm>
          <a:prstGeom prst="rect">
            <a:avLst/>
          </a:prstGeom>
          <a:noFill/>
          <a:ln/>
        </p:spPr>
        <p:txBody>
          <a:bodyPr wrap="square" rtlCol="0" anchor="ctr"/>
          <a:lstStyle/>
          <a:p>
            <a:pPr marL="0" indent="0">
              <a:buNone/>
            </a:pPr>
            <a:r>
              <a:rPr lang="en-US" sz="1250" b="1" dirty="0">
                <a:solidFill>
                  <a:srgbClr val="1E2B39"/>
                </a:solidFill>
              </a:rPr>
              <a:t>Why It Is Important</a:t>
            </a:r>
            <a:endParaRPr lang="en-US" sz="1250" dirty="0"/>
          </a:p>
        </p:txBody>
      </p:sp>
      <p:sp>
        <p:nvSpPr>
          <p:cNvPr id="13" name="Text 11"/>
          <p:cNvSpPr/>
          <p:nvPr/>
        </p:nvSpPr>
        <p:spPr>
          <a:xfrm>
            <a:off x="4590288" y="1865376"/>
            <a:ext cx="3246120" cy="4114800"/>
          </a:xfrm>
          <a:prstGeom prst="rect">
            <a:avLst/>
          </a:prstGeom>
          <a:noFill/>
          <a:ln/>
        </p:spPr>
        <p:txBody>
          <a:bodyPr wrap="square" rtlCol="0" anchor="t"/>
          <a:lstStyle/>
          <a:p>
            <a:pPr marL="0" indent="0">
              <a:buNone/>
            </a:pPr>
            <a:r>
              <a:rPr lang="en-US" sz="1060" dirty="0">
                <a:solidFill>
                  <a:srgbClr val="2B3B4B"/>
                </a:solidFill>
              </a:rPr>
              <a:t>Without anomaly detection, teams may miss hidden risks until they become costly. The project combines anomalies with volatility to produce practical risk alerts. This improves confidence in inventory and operational decisions under uncertainty.</a:t>
            </a:r>
            <a:endParaRPr lang="en-US" sz="1060" dirty="0"/>
          </a:p>
        </p:txBody>
      </p:sp>
      <p:sp>
        <p:nvSpPr>
          <p:cNvPr id="14" name="Shape 12"/>
          <p:cNvSpPr/>
          <p:nvPr/>
        </p:nvSpPr>
        <p:spPr>
          <a:xfrm>
            <a:off x="8138160" y="1508760"/>
            <a:ext cx="3182112" cy="4526280"/>
          </a:xfrm>
          <a:prstGeom prst="roundRect">
            <a:avLst>
              <a:gd name="adj" fmla="val 1437"/>
            </a:avLst>
          </a:prstGeom>
          <a:solidFill>
            <a:srgbClr val="FFF4E8"/>
          </a:solidFill>
          <a:ln w="12700">
            <a:solidFill>
              <a:srgbClr val="D4DFE8"/>
            </a:solidFill>
            <a:prstDash val="solid"/>
          </a:ln>
        </p:spPr>
      </p:sp>
      <p:sp>
        <p:nvSpPr>
          <p:cNvPr id="15" name="Text 13"/>
          <p:cNvSpPr/>
          <p:nvPr/>
        </p:nvSpPr>
        <p:spPr>
          <a:xfrm>
            <a:off x="8284464" y="1618488"/>
            <a:ext cx="2907792" cy="219456"/>
          </a:xfrm>
          <a:prstGeom prst="rect">
            <a:avLst/>
          </a:prstGeom>
          <a:noFill/>
          <a:ln/>
        </p:spPr>
        <p:txBody>
          <a:bodyPr wrap="square" rtlCol="0" anchor="ctr"/>
          <a:lstStyle/>
          <a:p>
            <a:pPr marL="0" indent="0">
              <a:buNone/>
            </a:pPr>
            <a:r>
              <a:rPr lang="en-US" sz="1250" b="1" dirty="0">
                <a:solidFill>
                  <a:srgbClr val="1E2B39"/>
                </a:solidFill>
              </a:rPr>
              <a:t>Business Examples</a:t>
            </a:r>
            <a:endParaRPr lang="en-US" sz="1250" dirty="0"/>
          </a:p>
        </p:txBody>
      </p:sp>
      <p:sp>
        <p:nvSpPr>
          <p:cNvPr id="16" name="Text 14"/>
          <p:cNvSpPr/>
          <p:nvPr/>
        </p:nvSpPr>
        <p:spPr>
          <a:xfrm>
            <a:off x="8284464" y="1865376"/>
            <a:ext cx="2907792" cy="4114800"/>
          </a:xfrm>
          <a:prstGeom prst="rect">
            <a:avLst/>
          </a:prstGeom>
          <a:noFill/>
          <a:ln/>
        </p:spPr>
        <p:txBody>
          <a:bodyPr wrap="square" rtlCol="0" anchor="t"/>
          <a:lstStyle/>
          <a:p>
            <a:pPr marL="0" indent="0">
              <a:buNone/>
            </a:pPr>
            <a:r>
              <a:rPr lang="en-US" sz="1060" dirty="0">
                <a:solidFill>
                  <a:srgbClr val="2B3B4B"/>
                </a:solidFill>
              </a:rPr>
              <a:t>Example 1: sudden spike indicates successful promotion, so stock must be replenished quickly. Example 2: sudden drop in one region may indicate local issue requiring immediate investigation. This module reduces reaction delay and protects revenue.</a:t>
            </a:r>
            <a:endParaRPr lang="en-US" sz="10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9</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Customer and Product Intelligence</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Explains who buys, what sells, and where margin improves.</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5303520" cy="4526280"/>
          </a:xfrm>
          <a:prstGeom prst="roundRect">
            <a:avLst>
              <a:gd name="adj" fmla="val 1010"/>
            </a:avLst>
          </a:prstGeom>
          <a:solidFill>
            <a:srgbClr val="EEF8F5"/>
          </a:solidFill>
          <a:ln w="12700">
            <a:solidFill>
              <a:srgbClr val="D4DFE8"/>
            </a:solidFill>
            <a:prstDash val="solid"/>
          </a:ln>
        </p:spPr>
      </p:sp>
      <p:sp>
        <p:nvSpPr>
          <p:cNvPr id="9" name="Text 7"/>
          <p:cNvSpPr/>
          <p:nvPr/>
        </p:nvSpPr>
        <p:spPr>
          <a:xfrm>
            <a:off x="896112" y="1618488"/>
            <a:ext cx="5029200" cy="219456"/>
          </a:xfrm>
          <a:prstGeom prst="rect">
            <a:avLst/>
          </a:prstGeom>
          <a:noFill/>
          <a:ln/>
        </p:spPr>
        <p:txBody>
          <a:bodyPr wrap="square" rtlCol="0" anchor="ctr"/>
          <a:lstStyle/>
          <a:p>
            <a:pPr marL="0" indent="0">
              <a:buNone/>
            </a:pPr>
            <a:r>
              <a:rPr lang="en-US" sz="1250" b="1" dirty="0">
                <a:solidFill>
                  <a:srgbClr val="1E2B39"/>
                </a:solidFill>
              </a:rPr>
              <a:t>Customer Insights</a:t>
            </a:r>
            <a:endParaRPr lang="en-US" sz="1250" dirty="0"/>
          </a:p>
        </p:txBody>
      </p:sp>
      <p:sp>
        <p:nvSpPr>
          <p:cNvPr id="10" name="Text 8"/>
          <p:cNvSpPr/>
          <p:nvPr/>
        </p:nvSpPr>
        <p:spPr>
          <a:xfrm>
            <a:off x="896112" y="1865376"/>
            <a:ext cx="5029200" cy="4114800"/>
          </a:xfrm>
          <a:prstGeom prst="rect">
            <a:avLst/>
          </a:prstGeom>
          <a:noFill/>
          <a:ln/>
        </p:spPr>
        <p:txBody>
          <a:bodyPr wrap="square" rtlCol="0" anchor="t"/>
          <a:lstStyle/>
          <a:p>
            <a:pPr marL="0" indent="0">
              <a:buNone/>
            </a:pPr>
            <a:r>
              <a:rPr lang="en-US" sz="1080" dirty="0">
                <a:solidFill>
                  <a:srgbClr val="2B3B4B"/>
                </a:solidFill>
              </a:rPr>
              <a:t>The project groups customers by buying behavior and highlights customers who may stop purchasing soon. It also checks review sentiment to understand whether customer experience is positive or negative. This helps teams focus retention efforts where impact is highest. Example: high-value at-risk customers can be targeted with personalized offers.</a:t>
            </a:r>
            <a:endParaRPr lang="en-US" sz="1080" dirty="0"/>
          </a:p>
        </p:txBody>
      </p:sp>
      <p:sp>
        <p:nvSpPr>
          <p:cNvPr id="11" name="Shape 9"/>
          <p:cNvSpPr/>
          <p:nvPr/>
        </p:nvSpPr>
        <p:spPr>
          <a:xfrm>
            <a:off x="6217920" y="1508760"/>
            <a:ext cx="5074920" cy="4526280"/>
          </a:xfrm>
          <a:prstGeom prst="roundRect">
            <a:avLst>
              <a:gd name="adj" fmla="val 1010"/>
            </a:avLst>
          </a:prstGeom>
          <a:solidFill>
            <a:srgbClr val="F3F8FD"/>
          </a:solidFill>
          <a:ln w="12700">
            <a:solidFill>
              <a:srgbClr val="D4DFE8"/>
            </a:solidFill>
            <a:prstDash val="solid"/>
          </a:ln>
        </p:spPr>
      </p:sp>
      <p:sp>
        <p:nvSpPr>
          <p:cNvPr id="12" name="Text 10"/>
          <p:cNvSpPr/>
          <p:nvPr/>
        </p:nvSpPr>
        <p:spPr>
          <a:xfrm>
            <a:off x="6364224" y="1618488"/>
            <a:ext cx="4800600" cy="219456"/>
          </a:xfrm>
          <a:prstGeom prst="rect">
            <a:avLst/>
          </a:prstGeom>
          <a:noFill/>
          <a:ln/>
        </p:spPr>
        <p:txBody>
          <a:bodyPr wrap="square" rtlCol="0" anchor="ctr"/>
          <a:lstStyle/>
          <a:p>
            <a:pPr marL="0" indent="0">
              <a:buNone/>
            </a:pPr>
            <a:r>
              <a:rPr lang="en-US" sz="1250" b="1" dirty="0">
                <a:solidFill>
                  <a:srgbClr val="1E2B39"/>
                </a:solidFill>
              </a:rPr>
              <a:t>Product, Category, and Discount Insights</a:t>
            </a:r>
            <a:endParaRPr lang="en-US" sz="1250" dirty="0"/>
          </a:p>
        </p:txBody>
      </p:sp>
      <p:sp>
        <p:nvSpPr>
          <p:cNvPr id="13" name="Text 11"/>
          <p:cNvSpPr/>
          <p:nvPr/>
        </p:nvSpPr>
        <p:spPr>
          <a:xfrm>
            <a:off x="6364224" y="1865376"/>
            <a:ext cx="4800600" cy="4114800"/>
          </a:xfrm>
          <a:prstGeom prst="rect">
            <a:avLst/>
          </a:prstGeom>
          <a:noFill/>
          <a:ln/>
        </p:spPr>
        <p:txBody>
          <a:bodyPr wrap="square" rtlCol="0" anchor="t"/>
          <a:lstStyle/>
          <a:p>
            <a:pPr marL="0" indent="0">
              <a:buNone/>
            </a:pPr>
            <a:r>
              <a:rPr lang="en-US" sz="1080" dirty="0">
                <a:solidFill>
                  <a:srgbClr val="2B3B4B"/>
                </a:solidFill>
              </a:rPr>
              <a:t>The dashboard shows top categories, top sub-categories, product pair patterns, and discount impact on sales versus profit. Example 1: identify categories with high sales but weak margin and adjust discount strategy. Example 2: detect product combinations for cross-selling bundles. This improves both growth and profitability.</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10</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Scenario Simulation (What-If Analysis)</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Tests decisions before executing them in the real market.</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5303520" cy="4526280"/>
          </a:xfrm>
          <a:prstGeom prst="roundRect">
            <a:avLst>
              <a:gd name="adj" fmla="val 1010"/>
            </a:avLst>
          </a:prstGeom>
          <a:solidFill>
            <a:srgbClr val="F3F8FD"/>
          </a:solidFill>
          <a:ln w="12700">
            <a:solidFill>
              <a:srgbClr val="D4DFE8"/>
            </a:solidFill>
            <a:prstDash val="solid"/>
          </a:ln>
        </p:spPr>
      </p:sp>
      <p:sp>
        <p:nvSpPr>
          <p:cNvPr id="9" name="Text 7"/>
          <p:cNvSpPr/>
          <p:nvPr/>
        </p:nvSpPr>
        <p:spPr>
          <a:xfrm>
            <a:off x="896112" y="1618488"/>
            <a:ext cx="5029200" cy="219456"/>
          </a:xfrm>
          <a:prstGeom prst="rect">
            <a:avLst/>
          </a:prstGeom>
          <a:noFill/>
          <a:ln/>
        </p:spPr>
        <p:txBody>
          <a:bodyPr wrap="square" rtlCol="0" anchor="ctr"/>
          <a:lstStyle/>
          <a:p>
            <a:pPr marL="0" indent="0">
              <a:buNone/>
            </a:pPr>
            <a:r>
              <a:rPr lang="en-US" sz="1250" b="1" dirty="0">
                <a:solidFill>
                  <a:srgbClr val="1E2B39"/>
                </a:solidFill>
              </a:rPr>
              <a:t>How It Works</a:t>
            </a:r>
            <a:endParaRPr lang="en-US" sz="1250" dirty="0"/>
          </a:p>
        </p:txBody>
      </p:sp>
      <p:sp>
        <p:nvSpPr>
          <p:cNvPr id="10" name="Text 8"/>
          <p:cNvSpPr/>
          <p:nvPr/>
        </p:nvSpPr>
        <p:spPr>
          <a:xfrm>
            <a:off x="896112" y="1865376"/>
            <a:ext cx="5029200" cy="4114800"/>
          </a:xfrm>
          <a:prstGeom prst="rect">
            <a:avLst/>
          </a:prstGeom>
          <a:noFill/>
          <a:ln/>
        </p:spPr>
        <p:txBody>
          <a:bodyPr wrap="square" rtlCol="0" anchor="t"/>
          <a:lstStyle/>
          <a:p>
            <a:pPr marL="0" indent="0">
              <a:buNone/>
            </a:pPr>
            <a:r>
              <a:rPr lang="en-US" sz="1080" dirty="0">
                <a:solidFill>
                  <a:srgbClr val="2B3B4B"/>
                </a:solidFill>
              </a:rPr>
              <a:t>Users adjust sliders for price change, demand change, discount change, and stock buffer. The dashboard recalculates projected revenue instantly and compares current versus simulated outcomes. This gives a safe environment to test policies before committing business resources.</a:t>
            </a:r>
            <a:endParaRPr lang="en-US" sz="1080" dirty="0"/>
          </a:p>
        </p:txBody>
      </p:sp>
      <p:sp>
        <p:nvSpPr>
          <p:cNvPr id="11" name="Shape 9"/>
          <p:cNvSpPr/>
          <p:nvPr/>
        </p:nvSpPr>
        <p:spPr>
          <a:xfrm>
            <a:off x="6217920" y="1508760"/>
            <a:ext cx="5074920" cy="4526280"/>
          </a:xfrm>
          <a:prstGeom prst="roundRect">
            <a:avLst>
              <a:gd name="adj" fmla="val 1010"/>
            </a:avLst>
          </a:prstGeom>
          <a:solidFill>
            <a:srgbClr val="FFF4E8"/>
          </a:solidFill>
          <a:ln w="12700">
            <a:solidFill>
              <a:srgbClr val="D4DFE8"/>
            </a:solidFill>
            <a:prstDash val="solid"/>
          </a:ln>
        </p:spPr>
      </p:sp>
      <p:sp>
        <p:nvSpPr>
          <p:cNvPr id="12" name="Text 10"/>
          <p:cNvSpPr/>
          <p:nvPr/>
        </p:nvSpPr>
        <p:spPr>
          <a:xfrm>
            <a:off x="6364224" y="1618488"/>
            <a:ext cx="4800600" cy="219456"/>
          </a:xfrm>
          <a:prstGeom prst="rect">
            <a:avLst/>
          </a:prstGeom>
          <a:noFill/>
          <a:ln/>
        </p:spPr>
        <p:txBody>
          <a:bodyPr wrap="square" rtlCol="0" anchor="ctr"/>
          <a:lstStyle/>
          <a:p>
            <a:pPr marL="0" indent="0">
              <a:buNone/>
            </a:pPr>
            <a:r>
              <a:rPr lang="en-US" sz="1250" b="1" dirty="0">
                <a:solidFill>
                  <a:srgbClr val="1E2B39"/>
                </a:solidFill>
              </a:rPr>
              <a:t>Business Value and Examples</a:t>
            </a:r>
            <a:endParaRPr lang="en-US" sz="1250" dirty="0"/>
          </a:p>
        </p:txBody>
      </p:sp>
      <p:sp>
        <p:nvSpPr>
          <p:cNvPr id="13" name="Text 11"/>
          <p:cNvSpPr/>
          <p:nvPr/>
        </p:nvSpPr>
        <p:spPr>
          <a:xfrm>
            <a:off x="6364224" y="1865376"/>
            <a:ext cx="4800600" cy="4114800"/>
          </a:xfrm>
          <a:prstGeom prst="rect">
            <a:avLst/>
          </a:prstGeom>
          <a:noFill/>
          <a:ln/>
        </p:spPr>
        <p:txBody>
          <a:bodyPr wrap="square" rtlCol="0" anchor="t"/>
          <a:lstStyle/>
          <a:p>
            <a:pPr marL="0" indent="0">
              <a:buNone/>
            </a:pPr>
            <a:r>
              <a:rPr lang="en-US" sz="1080" dirty="0">
                <a:solidFill>
                  <a:srgbClr val="2B3B4B"/>
                </a:solidFill>
              </a:rPr>
              <a:t>Example 1: test whether a small price increase can offset reduced demand. Example 2: evaluate if deeper discount boosts sales but harms profit. The module supports data-backed decisions and reduces costly trial-and-error in live operations.</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11</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Automated Insights and Reporting</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Turns analytics into understandable communication.</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5303520" cy="4526280"/>
          </a:xfrm>
          <a:prstGeom prst="roundRect">
            <a:avLst>
              <a:gd name="adj" fmla="val 1010"/>
            </a:avLst>
          </a:prstGeom>
          <a:solidFill>
            <a:srgbClr val="EEF8F5"/>
          </a:solidFill>
          <a:ln w="12700">
            <a:solidFill>
              <a:srgbClr val="D4DFE8"/>
            </a:solidFill>
            <a:prstDash val="solid"/>
          </a:ln>
        </p:spPr>
      </p:sp>
      <p:sp>
        <p:nvSpPr>
          <p:cNvPr id="9" name="Text 7"/>
          <p:cNvSpPr/>
          <p:nvPr/>
        </p:nvSpPr>
        <p:spPr>
          <a:xfrm>
            <a:off x="896112" y="1618488"/>
            <a:ext cx="5029200" cy="219456"/>
          </a:xfrm>
          <a:prstGeom prst="rect">
            <a:avLst/>
          </a:prstGeom>
          <a:noFill/>
          <a:ln/>
        </p:spPr>
        <p:txBody>
          <a:bodyPr wrap="square" rtlCol="0" anchor="ctr"/>
          <a:lstStyle/>
          <a:p>
            <a:pPr marL="0" indent="0">
              <a:buNone/>
            </a:pPr>
            <a:r>
              <a:rPr lang="en-US" sz="1250" b="1" dirty="0">
                <a:solidFill>
                  <a:srgbClr val="1E2B39"/>
                </a:solidFill>
              </a:rPr>
              <a:t>Insight Generator</a:t>
            </a:r>
            <a:endParaRPr lang="en-US" sz="1250" dirty="0"/>
          </a:p>
        </p:txBody>
      </p:sp>
      <p:sp>
        <p:nvSpPr>
          <p:cNvPr id="10" name="Text 8"/>
          <p:cNvSpPr/>
          <p:nvPr/>
        </p:nvSpPr>
        <p:spPr>
          <a:xfrm>
            <a:off x="896112" y="1865376"/>
            <a:ext cx="5029200" cy="4114800"/>
          </a:xfrm>
          <a:prstGeom prst="rect">
            <a:avLst/>
          </a:prstGeom>
          <a:noFill/>
          <a:ln/>
        </p:spPr>
        <p:txBody>
          <a:bodyPr wrap="square" rtlCol="0" anchor="t"/>
          <a:lstStyle/>
          <a:p>
            <a:pPr marL="0" indent="0">
              <a:buNone/>
            </a:pPr>
            <a:r>
              <a:rPr lang="en-US" sz="1080" dirty="0">
                <a:solidFill>
                  <a:srgbClr val="2B3B4B"/>
                </a:solidFill>
              </a:rPr>
              <a:t>The project automatically writes clear business statements from data trends, risk signals, and forecast outcomes. This helps non-technical users understand what is happening without decoding technical charts. Insights are displayed in a dedicated section and are aligned with active filters.</a:t>
            </a:r>
            <a:endParaRPr lang="en-US" sz="1080" dirty="0"/>
          </a:p>
        </p:txBody>
      </p:sp>
      <p:sp>
        <p:nvSpPr>
          <p:cNvPr id="11" name="Shape 9"/>
          <p:cNvSpPr/>
          <p:nvPr/>
        </p:nvSpPr>
        <p:spPr>
          <a:xfrm>
            <a:off x="6217920" y="1508760"/>
            <a:ext cx="5074920" cy="4526280"/>
          </a:xfrm>
          <a:prstGeom prst="roundRect">
            <a:avLst>
              <a:gd name="adj" fmla="val 1010"/>
            </a:avLst>
          </a:prstGeom>
          <a:solidFill>
            <a:srgbClr val="F3F8FD"/>
          </a:solidFill>
          <a:ln w="12700">
            <a:solidFill>
              <a:srgbClr val="D4DFE8"/>
            </a:solidFill>
            <a:prstDash val="solid"/>
          </a:ln>
        </p:spPr>
      </p:sp>
      <p:sp>
        <p:nvSpPr>
          <p:cNvPr id="12" name="Text 10"/>
          <p:cNvSpPr/>
          <p:nvPr/>
        </p:nvSpPr>
        <p:spPr>
          <a:xfrm>
            <a:off x="6364224" y="1618488"/>
            <a:ext cx="4800600" cy="219456"/>
          </a:xfrm>
          <a:prstGeom prst="rect">
            <a:avLst/>
          </a:prstGeom>
          <a:noFill/>
          <a:ln/>
        </p:spPr>
        <p:txBody>
          <a:bodyPr wrap="square" rtlCol="0" anchor="ctr"/>
          <a:lstStyle/>
          <a:p>
            <a:pPr marL="0" indent="0">
              <a:buNone/>
            </a:pPr>
            <a:r>
              <a:rPr lang="en-US" sz="1250" b="1" dirty="0">
                <a:solidFill>
                  <a:srgbClr val="1E2B39"/>
                </a:solidFill>
              </a:rPr>
              <a:t>Export and Practical Usage</a:t>
            </a:r>
            <a:endParaRPr lang="en-US" sz="1250" dirty="0"/>
          </a:p>
        </p:txBody>
      </p:sp>
      <p:sp>
        <p:nvSpPr>
          <p:cNvPr id="13" name="Text 11"/>
          <p:cNvSpPr/>
          <p:nvPr/>
        </p:nvSpPr>
        <p:spPr>
          <a:xfrm>
            <a:off x="6364224" y="1865376"/>
            <a:ext cx="4800600" cy="4114800"/>
          </a:xfrm>
          <a:prstGeom prst="rect">
            <a:avLst/>
          </a:prstGeom>
          <a:noFill/>
          <a:ln/>
        </p:spPr>
        <p:txBody>
          <a:bodyPr wrap="square" rtlCol="0" anchor="t"/>
          <a:lstStyle/>
          <a:p>
            <a:pPr marL="0" indent="0">
              <a:buNone/>
            </a:pPr>
            <a:r>
              <a:rPr lang="en-US" sz="1080" dirty="0">
                <a:solidFill>
                  <a:srgbClr val="2B3B4B"/>
                </a:solidFill>
              </a:rPr>
              <a:t>The system exports filtered CSV, forecast CSV, Excel analytics, executive text summary, and PDF report. Example 1: managers can use PDF directly in review meetings. Example 2: analysts can use exported CSV/Excel for deeper study. This saves time and improves reporting consistency.</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12</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What Makes This Project Different and Why Use It</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A practical all-in-one platform, not just a charting tool.</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pic>
        <p:nvPicPr>
          <p:cNvPr id="8" name="Image 0" descr="C:\Users\yaswa\OneDrive\Desktop\Data Visualization and Predictive Analytics for Retail Business Insights”\slides_build\assets_generated\differentiators.png"/>
          <p:cNvPicPr>
            <a:picLocks noChangeAspect="1"/>
          </p:cNvPicPr>
          <p:nvPr/>
        </p:nvPicPr>
        <p:blipFill>
          <a:blip r:embed="rId3"/>
          <a:stretch>
            <a:fillRect/>
          </a:stretch>
        </p:blipFill>
        <p:spPr>
          <a:xfrm>
            <a:off x="749808" y="1508760"/>
            <a:ext cx="5669280" cy="4526280"/>
          </a:xfrm>
          <a:prstGeom prst="rect">
            <a:avLst/>
          </a:prstGeom>
        </p:spPr>
      </p:pic>
      <p:sp>
        <p:nvSpPr>
          <p:cNvPr id="9" name="Shape 6"/>
          <p:cNvSpPr/>
          <p:nvPr/>
        </p:nvSpPr>
        <p:spPr>
          <a:xfrm>
            <a:off x="6583680" y="1508760"/>
            <a:ext cx="4709160" cy="4526280"/>
          </a:xfrm>
          <a:prstGeom prst="roundRect">
            <a:avLst>
              <a:gd name="adj" fmla="val 1010"/>
            </a:avLst>
          </a:prstGeom>
          <a:solidFill>
            <a:srgbClr val="FFF4E8"/>
          </a:solidFill>
          <a:ln w="12700">
            <a:solidFill>
              <a:srgbClr val="D4DFE8"/>
            </a:solidFill>
            <a:prstDash val="solid"/>
          </a:ln>
        </p:spPr>
      </p:sp>
      <p:sp>
        <p:nvSpPr>
          <p:cNvPr id="10" name="Text 7"/>
          <p:cNvSpPr/>
          <p:nvPr/>
        </p:nvSpPr>
        <p:spPr>
          <a:xfrm>
            <a:off x="6729984" y="1618488"/>
            <a:ext cx="4434840" cy="219456"/>
          </a:xfrm>
          <a:prstGeom prst="rect">
            <a:avLst/>
          </a:prstGeom>
          <a:noFill/>
          <a:ln/>
        </p:spPr>
        <p:txBody>
          <a:bodyPr wrap="square" rtlCol="0" anchor="ctr"/>
          <a:lstStyle/>
          <a:p>
            <a:pPr marL="0" indent="0">
              <a:buNone/>
            </a:pPr>
            <a:r>
              <a:rPr lang="en-US" sz="1250" b="1" dirty="0">
                <a:solidFill>
                  <a:srgbClr val="1E2B39"/>
                </a:solidFill>
              </a:rPr>
              <a:t>Differentiation and Adoption Value</a:t>
            </a:r>
            <a:endParaRPr lang="en-US" sz="1250" dirty="0"/>
          </a:p>
        </p:txBody>
      </p:sp>
      <p:sp>
        <p:nvSpPr>
          <p:cNvPr id="11" name="Text 8"/>
          <p:cNvSpPr/>
          <p:nvPr/>
        </p:nvSpPr>
        <p:spPr>
          <a:xfrm>
            <a:off x="6729984" y="1865376"/>
            <a:ext cx="4434840" cy="4114800"/>
          </a:xfrm>
          <a:prstGeom prst="rect">
            <a:avLst/>
          </a:prstGeom>
          <a:noFill/>
          <a:ln/>
        </p:spPr>
        <p:txBody>
          <a:bodyPr wrap="square" rtlCol="0" anchor="t"/>
          <a:lstStyle/>
          <a:p>
            <a:pPr marL="0" indent="0">
              <a:buNone/>
            </a:pPr>
            <a:r>
              <a:rPr lang="en-US" sz="1060" dirty="0">
                <a:solidFill>
                  <a:srgbClr val="2B3B4B"/>
                </a:solidFill>
              </a:rPr>
              <a:t>This project is different because it combines exploration, forecasting, risk detection, simulation, and reporting in one dashboard with user-friendly guidance. It works for managers, analysts, and operations teams in the same platform. Organizations should use it because it reduces decision delays, improves planning accuracy, and provides clear communication-ready outputs.</a:t>
            </a:r>
            <a:endParaRPr lang="en-US" sz="10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182880" y="128016"/>
            <a:ext cx="11823192" cy="6583680"/>
          </a:xfrm>
          <a:prstGeom prst="roundRect">
            <a:avLst>
              <a:gd name="adj" fmla="val 1111"/>
            </a:avLst>
          </a:prstGeom>
          <a:solidFill>
            <a:srgbClr val="FFFDF9"/>
          </a:solidFill>
          <a:ln w="12700">
            <a:solidFill>
              <a:srgbClr val="D8E2EA"/>
            </a:solidFill>
            <a:prstDash val="solid"/>
          </a:ln>
        </p:spPr>
      </p:sp>
      <p:sp>
        <p:nvSpPr>
          <p:cNvPr id="3" name="Text 1"/>
          <p:cNvSpPr/>
          <p:nvPr/>
        </p:nvSpPr>
        <p:spPr>
          <a:xfrm>
            <a:off x="566928" y="6355080"/>
            <a:ext cx="9966960" cy="182880"/>
          </a:xfrm>
          <a:prstGeom prst="rect">
            <a:avLst/>
          </a:prstGeom>
          <a:noFill/>
          <a:ln/>
        </p:spPr>
        <p:txBody>
          <a:bodyPr wrap="square" rtlCol="0" anchor="ctr"/>
          <a:lstStyle/>
          <a:p>
            <a:pPr marL="0" indent="0">
              <a:buNone/>
            </a:pPr>
            <a:r>
              <a:rPr lang="en-US" sz="900" dirty="0">
                <a:solidFill>
                  <a:srgbClr val="6A7684"/>
                </a:solidFill>
              </a:rPr>
              <a:t>Data Visualization and Predictive Analytics for Retail Business Insights</a:t>
            </a:r>
            <a:endParaRPr lang="en-US" sz="900" dirty="0"/>
          </a:p>
        </p:txBody>
      </p:sp>
      <p:sp>
        <p:nvSpPr>
          <p:cNvPr id="4" name="Text 2"/>
          <p:cNvSpPr/>
          <p:nvPr/>
        </p:nvSpPr>
        <p:spPr>
          <a:xfrm>
            <a:off x="11064240" y="6336792"/>
            <a:ext cx="640080" cy="182880"/>
          </a:xfrm>
          <a:prstGeom prst="rect">
            <a:avLst/>
          </a:prstGeom>
          <a:noFill/>
          <a:ln/>
        </p:spPr>
        <p:txBody>
          <a:bodyPr wrap="square" rtlCol="0" anchor="ctr"/>
          <a:lstStyle/>
          <a:p>
            <a:pPr marL="0" indent="0" algn="r">
              <a:buNone/>
            </a:pPr>
            <a:r>
              <a:rPr lang="en-US" sz="1000" b="1" dirty="0">
                <a:solidFill>
                  <a:srgbClr val="0F766E"/>
                </a:solidFill>
              </a:rPr>
              <a:t>13</a:t>
            </a:r>
            <a:endParaRPr lang="en-US" sz="1000" dirty="0"/>
          </a:p>
        </p:txBody>
      </p:sp>
      <p:sp>
        <p:nvSpPr>
          <p:cNvPr id="5" name="Text 3"/>
          <p:cNvSpPr/>
          <p:nvPr/>
        </p:nvSpPr>
        <p:spPr>
          <a:xfrm>
            <a:off x="566928" y="365760"/>
            <a:ext cx="10881360" cy="438912"/>
          </a:xfrm>
          <a:prstGeom prst="rect">
            <a:avLst/>
          </a:prstGeom>
          <a:noFill/>
          <a:ln/>
        </p:spPr>
        <p:txBody>
          <a:bodyPr wrap="square" rtlCol="0" anchor="ctr"/>
          <a:lstStyle/>
          <a:p>
            <a:pPr marL="0" indent="0">
              <a:buNone/>
            </a:pPr>
            <a:r>
              <a:rPr lang="en-US" sz="2400" b="1" dirty="0">
                <a:solidFill>
                  <a:srgbClr val="1E2B39"/>
                </a:solidFill>
                <a:latin typeface="Segoe UI" pitchFamily="34" charset="0"/>
                <a:ea typeface="Segoe UI" pitchFamily="34" charset="-122"/>
                <a:cs typeface="Segoe UI" pitchFamily="34" charset="-120"/>
              </a:rPr>
              <a:t>Real-World Problem Solved by This Project</a:t>
            </a:r>
            <a:endParaRPr lang="en-US" sz="2400" dirty="0"/>
          </a:p>
        </p:txBody>
      </p:sp>
      <p:sp>
        <p:nvSpPr>
          <p:cNvPr id="6" name="Text 4"/>
          <p:cNvSpPr/>
          <p:nvPr/>
        </p:nvSpPr>
        <p:spPr>
          <a:xfrm>
            <a:off x="566928" y="822960"/>
            <a:ext cx="10972800" cy="228600"/>
          </a:xfrm>
          <a:prstGeom prst="rect">
            <a:avLst/>
          </a:prstGeom>
          <a:noFill/>
          <a:ln/>
        </p:spPr>
        <p:txBody>
          <a:bodyPr wrap="square" rtlCol="0" anchor="ctr"/>
          <a:lstStyle/>
          <a:p>
            <a:pPr marL="0" indent="0">
              <a:buNone/>
            </a:pPr>
            <a:r>
              <a:rPr lang="en-US" sz="1200" dirty="0">
                <a:solidFill>
                  <a:srgbClr val="5F6E7C"/>
                </a:solidFill>
              </a:rPr>
              <a:t>Final business case: from issue to measurable solution.</a:t>
            </a:r>
            <a:endParaRPr lang="en-US" sz="1200" dirty="0"/>
          </a:p>
        </p:txBody>
      </p:sp>
      <p:sp>
        <p:nvSpPr>
          <p:cNvPr id="7" name="Shape 5"/>
          <p:cNvSpPr/>
          <p:nvPr/>
        </p:nvSpPr>
        <p:spPr>
          <a:xfrm>
            <a:off x="566928" y="1133856"/>
            <a:ext cx="10881360" cy="0"/>
          </a:xfrm>
          <a:prstGeom prst="line">
            <a:avLst/>
          </a:prstGeom>
          <a:noFill/>
          <a:ln w="12700">
            <a:solidFill>
              <a:srgbClr val="DEE5EC"/>
            </a:solidFill>
            <a:prstDash val="solid"/>
          </a:ln>
        </p:spPr>
      </p:sp>
      <p:sp>
        <p:nvSpPr>
          <p:cNvPr id="8" name="Shape 6"/>
          <p:cNvSpPr/>
          <p:nvPr/>
        </p:nvSpPr>
        <p:spPr>
          <a:xfrm>
            <a:off x="749808" y="1508760"/>
            <a:ext cx="3520440" cy="4526280"/>
          </a:xfrm>
          <a:prstGeom prst="roundRect">
            <a:avLst>
              <a:gd name="adj" fmla="val 1299"/>
            </a:avLst>
          </a:prstGeom>
          <a:solidFill>
            <a:srgbClr val="F3F8FD"/>
          </a:solidFill>
          <a:ln w="12700">
            <a:solidFill>
              <a:srgbClr val="D4DFE8"/>
            </a:solidFill>
            <a:prstDash val="solid"/>
          </a:ln>
        </p:spPr>
      </p:sp>
      <p:sp>
        <p:nvSpPr>
          <p:cNvPr id="9" name="Text 7"/>
          <p:cNvSpPr/>
          <p:nvPr/>
        </p:nvSpPr>
        <p:spPr>
          <a:xfrm>
            <a:off x="896112" y="1618488"/>
            <a:ext cx="3246120" cy="219456"/>
          </a:xfrm>
          <a:prstGeom prst="rect">
            <a:avLst/>
          </a:prstGeom>
          <a:noFill/>
          <a:ln/>
        </p:spPr>
        <p:txBody>
          <a:bodyPr wrap="square" rtlCol="0" anchor="ctr"/>
          <a:lstStyle/>
          <a:p>
            <a:pPr marL="0" indent="0">
              <a:buNone/>
            </a:pPr>
            <a:r>
              <a:rPr lang="en-US" sz="1250" b="1" dirty="0">
                <a:solidFill>
                  <a:srgbClr val="1E2B39"/>
                </a:solidFill>
              </a:rPr>
              <a:t>Real-World Problem</a:t>
            </a:r>
            <a:endParaRPr lang="en-US" sz="1250" dirty="0"/>
          </a:p>
        </p:txBody>
      </p:sp>
      <p:sp>
        <p:nvSpPr>
          <p:cNvPr id="10" name="Text 8"/>
          <p:cNvSpPr/>
          <p:nvPr/>
        </p:nvSpPr>
        <p:spPr>
          <a:xfrm>
            <a:off x="896112" y="1865376"/>
            <a:ext cx="3246120" cy="4114800"/>
          </a:xfrm>
          <a:prstGeom prst="rect">
            <a:avLst/>
          </a:prstGeom>
          <a:noFill/>
          <a:ln/>
        </p:spPr>
        <p:txBody>
          <a:bodyPr wrap="square" rtlCol="0" anchor="t"/>
          <a:lstStyle/>
          <a:p>
            <a:pPr marL="0" indent="0">
              <a:buNone/>
            </a:pPr>
            <a:r>
              <a:rPr lang="en-US" sz="1060" dirty="0">
                <a:solidFill>
                  <a:srgbClr val="2B3B4B"/>
                </a:solidFill>
              </a:rPr>
              <a:t>A retail chain faces two recurring issues: frequent stock-outs in high-demand months and overstock in slow months. Managers rely on static historical reports, so they react late. Regional underperformance is also noticed only after monthly losses are already recorded.</a:t>
            </a:r>
            <a:endParaRPr lang="en-US" sz="1060" dirty="0"/>
          </a:p>
        </p:txBody>
      </p:sp>
      <p:sp>
        <p:nvSpPr>
          <p:cNvPr id="11" name="Shape 9"/>
          <p:cNvSpPr/>
          <p:nvPr/>
        </p:nvSpPr>
        <p:spPr>
          <a:xfrm>
            <a:off x="4443984" y="1508760"/>
            <a:ext cx="3520440" cy="4526280"/>
          </a:xfrm>
          <a:prstGeom prst="roundRect">
            <a:avLst>
              <a:gd name="adj" fmla="val 1299"/>
            </a:avLst>
          </a:prstGeom>
          <a:solidFill>
            <a:srgbClr val="EEF8F5"/>
          </a:solidFill>
          <a:ln w="12700">
            <a:solidFill>
              <a:srgbClr val="D4DFE8"/>
            </a:solidFill>
            <a:prstDash val="solid"/>
          </a:ln>
        </p:spPr>
      </p:sp>
      <p:sp>
        <p:nvSpPr>
          <p:cNvPr id="12" name="Text 10"/>
          <p:cNvSpPr/>
          <p:nvPr/>
        </p:nvSpPr>
        <p:spPr>
          <a:xfrm>
            <a:off x="4590288" y="1618488"/>
            <a:ext cx="3246120" cy="219456"/>
          </a:xfrm>
          <a:prstGeom prst="rect">
            <a:avLst/>
          </a:prstGeom>
          <a:noFill/>
          <a:ln/>
        </p:spPr>
        <p:txBody>
          <a:bodyPr wrap="square" rtlCol="0" anchor="ctr"/>
          <a:lstStyle/>
          <a:p>
            <a:pPr marL="0" indent="0">
              <a:buNone/>
            </a:pPr>
            <a:r>
              <a:rPr lang="en-US" sz="1250" b="1" dirty="0">
                <a:solidFill>
                  <a:srgbClr val="1E2B39"/>
                </a:solidFill>
              </a:rPr>
              <a:t>How Project Solves It</a:t>
            </a:r>
            <a:endParaRPr lang="en-US" sz="1250" dirty="0"/>
          </a:p>
        </p:txBody>
      </p:sp>
      <p:sp>
        <p:nvSpPr>
          <p:cNvPr id="13" name="Text 11"/>
          <p:cNvSpPr/>
          <p:nvPr/>
        </p:nvSpPr>
        <p:spPr>
          <a:xfrm>
            <a:off x="4590288" y="1865376"/>
            <a:ext cx="3246120" cy="4114800"/>
          </a:xfrm>
          <a:prstGeom prst="rect">
            <a:avLst/>
          </a:prstGeom>
          <a:noFill/>
          <a:ln/>
        </p:spPr>
        <p:txBody>
          <a:bodyPr wrap="square" rtlCol="0" anchor="t"/>
          <a:lstStyle/>
          <a:p>
            <a:pPr marL="0" indent="0">
              <a:buNone/>
            </a:pPr>
            <a:r>
              <a:rPr lang="en-US" sz="1060" dirty="0">
                <a:solidFill>
                  <a:srgbClr val="2B3B4B"/>
                </a:solidFill>
              </a:rPr>
              <a:t>The dashboard predicts upcoming demand, flags unusual behavior early, and allows scenario testing before decisions are finalized. It identifies where demand may rise, where risk is high, and which categories/segments need action. Automated insights summarize recommended actions in plain language.</a:t>
            </a:r>
            <a:endParaRPr lang="en-US" sz="1060" dirty="0"/>
          </a:p>
        </p:txBody>
      </p:sp>
      <p:sp>
        <p:nvSpPr>
          <p:cNvPr id="14" name="Shape 12"/>
          <p:cNvSpPr/>
          <p:nvPr/>
        </p:nvSpPr>
        <p:spPr>
          <a:xfrm>
            <a:off x="8138160" y="1508760"/>
            <a:ext cx="3182112" cy="4526280"/>
          </a:xfrm>
          <a:prstGeom prst="roundRect">
            <a:avLst>
              <a:gd name="adj" fmla="val 1437"/>
            </a:avLst>
          </a:prstGeom>
          <a:solidFill>
            <a:srgbClr val="FFF4E8"/>
          </a:solidFill>
          <a:ln w="12700">
            <a:solidFill>
              <a:srgbClr val="D4DFE8"/>
            </a:solidFill>
            <a:prstDash val="solid"/>
          </a:ln>
        </p:spPr>
      </p:sp>
      <p:sp>
        <p:nvSpPr>
          <p:cNvPr id="15" name="Text 13"/>
          <p:cNvSpPr/>
          <p:nvPr/>
        </p:nvSpPr>
        <p:spPr>
          <a:xfrm>
            <a:off x="8284464" y="1618488"/>
            <a:ext cx="2907792" cy="219456"/>
          </a:xfrm>
          <a:prstGeom prst="rect">
            <a:avLst/>
          </a:prstGeom>
          <a:noFill/>
          <a:ln/>
        </p:spPr>
        <p:txBody>
          <a:bodyPr wrap="square" rtlCol="0" anchor="ctr"/>
          <a:lstStyle/>
          <a:p>
            <a:pPr marL="0" indent="0">
              <a:buNone/>
            </a:pPr>
            <a:r>
              <a:rPr lang="en-US" sz="1250" b="1" dirty="0">
                <a:solidFill>
                  <a:srgbClr val="1E2B39"/>
                </a:solidFill>
              </a:rPr>
              <a:t>Business Outcome</a:t>
            </a:r>
            <a:endParaRPr lang="en-US" sz="1250" dirty="0"/>
          </a:p>
        </p:txBody>
      </p:sp>
      <p:sp>
        <p:nvSpPr>
          <p:cNvPr id="16" name="Text 14"/>
          <p:cNvSpPr/>
          <p:nvPr/>
        </p:nvSpPr>
        <p:spPr>
          <a:xfrm>
            <a:off x="8284464" y="1865376"/>
            <a:ext cx="2907792" cy="4114800"/>
          </a:xfrm>
          <a:prstGeom prst="rect">
            <a:avLst/>
          </a:prstGeom>
          <a:noFill/>
          <a:ln/>
        </p:spPr>
        <p:txBody>
          <a:bodyPr wrap="square" rtlCol="0" anchor="t"/>
          <a:lstStyle/>
          <a:p>
            <a:pPr marL="0" indent="0">
              <a:buNone/>
            </a:pPr>
            <a:r>
              <a:rPr lang="en-US" sz="1060" dirty="0">
                <a:solidFill>
                  <a:srgbClr val="2B3B4B"/>
                </a:solidFill>
              </a:rPr>
              <a:t>Result: better stock planning, lower waste from overstock, faster reaction to anomalies, and clearer management reporting. Example 1: forecast-led inventory increase prevents stock-out in peak month. Example 2: scenario test prevents a discount strategy that would have reduced margin. This is why the project is practical and valuable.</a:t>
            </a:r>
            <a:endParaRPr lang="en-US" sz="10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1586</Words>
  <Application>Microsoft Office PowerPoint</Application>
  <PresentationFormat>Widescreen</PresentationFormat>
  <Paragraphs>114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Retail Analytics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Insights Story Presentation</dc:title>
  <dc:subject>Non-Technical Presentation</dc:subject>
  <dc:creator>Yaswanth</dc:creator>
  <cp:lastModifiedBy>yaswanth Reddy</cp:lastModifiedBy>
  <cp:revision>2</cp:revision>
  <dcterms:created xsi:type="dcterms:W3CDTF">2026-03-26T16:49:41Z</dcterms:created>
  <dcterms:modified xsi:type="dcterms:W3CDTF">2026-03-26T16:55:31Z</dcterms:modified>
</cp:coreProperties>
</file>